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keelebrahim/weather_apps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akeelebrahim/weather_apps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www.istockphoto.com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965960"/>
            <a:ext cx="9994392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Arial"/>
              </a:rPr>
              <a:t>Weather Tracker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651760" y="3200400"/>
            <a:ext cx="688543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9D3E0"/>
                </a:solidFill>
                <a:latin typeface="Calibri"/>
              </a:rPr>
              <a:t>An interactive Streamlit and Pandas dashboard localized for the climate patterns of Bahrain.</a:t>
            </a:r>
          </a:p>
        </p:txBody>
      </p:sp>
      <p:sp>
        <p:nvSpPr>
          <p:cNvPr id="4" name="Rounded Rectangle 3">
            <a:hlinkClick r:id="rId2"/>
          </p:cNvPr>
          <p:cNvSpPr/>
          <p:nvPr/>
        </p:nvSpPr>
        <p:spPr>
          <a:xfrm>
            <a:off x="3950208" y="4434840"/>
            <a:ext cx="4297680" cy="566928"/>
          </a:xfrm>
          <a:prstGeom prst="roundRect">
            <a:avLst>
              <a:gd name="adj" fmla="val 18000"/>
            </a:avLst>
          </a:prstGeom>
          <a:solidFill>
            <a:srgbClr val="1D2C49"/>
          </a:solidFill>
          <a:ln w="12700">
            <a:solidFill>
              <a:srgbClr val="6B778C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 i="0">
                <a:solidFill>
                  <a:srgbClr val="E8674C"/>
                </a:solidFill>
                <a:latin typeface="Courier New"/>
              </a:rPr>
              <a:t>GitHub Project Repository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12064"/>
            <a:ext cx="64008" cy="658368"/>
          </a:xfrm>
          <a:prstGeom prst="rect">
            <a:avLst/>
          </a:prstGeom>
          <a:solidFill>
            <a:srgbClr val="E86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572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A2742"/>
                </a:solidFill>
                <a:latin typeface="Arial"/>
              </a:rPr>
              <a:t>Bahrain Climate Observations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83080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1A2742"/>
                </a:solidFill>
                <a:latin typeface="Arial"/>
              </a:rPr>
              <a:t>Why Localized Tracking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5394960" cy="40233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D5A6B"/>
                </a:solidFill>
                <a:latin typeface="Calibri"/>
              </a:rPr>
              <a:t>Bahrain features a extreme dual-season desert climate with intense heat variations. Capturing precise local environmental metrics requires high-fidelity recording systems.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sz="1000" b="1" i="0">
                <a:solidFill>
                  <a:srgbClr val="E8674C"/>
                </a:solidFill>
                <a:latin typeface="Calibri"/>
              </a:rPr>
              <a:t>◆  </a:t>
            </a:r>
            <a:r>
              <a:rPr sz="1400" b="1" i="0">
                <a:solidFill>
                  <a:srgbClr val="1A2742"/>
                </a:solidFill>
                <a:latin typeface="Calibri"/>
              </a:rPr>
              <a:t>Summer Extremes: </a:t>
            </a:r>
            <a:r>
              <a:rPr sz="1400" b="0" i="0">
                <a:solidFill>
                  <a:srgbClr val="4D5A6B"/>
                </a:solidFill>
                <a:latin typeface="Calibri"/>
              </a:rPr>
              <a:t>High-humidity Shamal wind systems ranging upwards of 45°C.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sz="1000" b="1" i="0">
                <a:solidFill>
                  <a:srgbClr val="E8674C"/>
                </a:solidFill>
                <a:latin typeface="Calibri"/>
              </a:rPr>
              <a:t>◆  </a:t>
            </a:r>
            <a:r>
              <a:rPr sz="1400" b="1" i="0">
                <a:solidFill>
                  <a:srgbClr val="1A2742"/>
                </a:solidFill>
                <a:latin typeface="Calibri"/>
              </a:rPr>
              <a:t>Mild Winters: </a:t>
            </a:r>
            <a:r>
              <a:rPr sz="1400" b="0" i="0">
                <a:solidFill>
                  <a:srgbClr val="4D5A6B"/>
                </a:solidFill>
                <a:latin typeface="Calibri"/>
              </a:rPr>
              <a:t>Brief cooling periods dropping down to comfortable ranges of 14°C.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sz="1000" b="1" i="0">
                <a:solidFill>
                  <a:srgbClr val="E8674C"/>
                </a:solidFill>
                <a:latin typeface="Calibri"/>
              </a:rPr>
              <a:t>◆  </a:t>
            </a:r>
            <a:r>
              <a:rPr sz="1400" b="1" i="0">
                <a:solidFill>
                  <a:srgbClr val="1A2742"/>
                </a:solidFill>
                <a:latin typeface="Calibri"/>
              </a:rPr>
              <a:t>The Challenge: </a:t>
            </a:r>
            <a:r>
              <a:rPr sz="1400" b="0" i="0">
                <a:solidFill>
                  <a:srgbClr val="4D5A6B"/>
                </a:solidFill>
                <a:latin typeface="Calibri"/>
              </a:rPr>
              <a:t>Building a lightweight, fast, and structured platform that logs, searches, and monitors these distinct shifts over time.</a:t>
            </a:r>
          </a:p>
        </p:txBody>
      </p:sp>
      <p:pic>
        <p:nvPicPr>
          <p:cNvPr id="6" name="Picture 5" descr="sky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874519"/>
            <a:ext cx="5285232" cy="36027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12064"/>
            <a:ext cx="64008" cy="658368"/>
          </a:xfrm>
          <a:prstGeom prst="rect">
            <a:avLst/>
          </a:prstGeom>
          <a:solidFill>
            <a:srgbClr val="E86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572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A2742"/>
                </a:solidFill>
                <a:latin typeface="Arial"/>
              </a:rPr>
              <a:t>Modular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5440680" cy="4526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7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057400"/>
            <a:ext cx="4617720" cy="37490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8674C"/>
                </a:solidFill>
                <a:latin typeface="Courier New"/>
              </a:rPr>
              <a:t>main_app.py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sz="1400" b="0" i="0">
                <a:solidFill>
                  <a:srgbClr val="4D5A6B"/>
                </a:solidFill>
                <a:latin typeface="Calibri"/>
              </a:rPr>
              <a:t>Acts as the clean, modern user interface layer developed with the Streamlit framework.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sz="1000" b="1" i="0">
                <a:solidFill>
                  <a:srgbClr val="E8674C"/>
                </a:solidFill>
                <a:latin typeface="Calibri"/>
              </a:rPr>
              <a:t>◆  </a:t>
            </a:r>
            <a:r>
              <a:rPr sz="1400" b="0" i="0">
                <a:solidFill>
                  <a:srgbClr val="4D5A6B"/>
                </a:solidFill>
                <a:latin typeface="Calibri"/>
              </a:rPr>
              <a:t>Loads the page sidebar navigation dynamically using </a:t>
            </a:r>
            <a:r>
              <a:rPr sz="1400" b="0" i="0">
                <a:solidFill>
                  <a:srgbClr val="4D5A6B"/>
                </a:solidFill>
                <a:latin typeface="Courier New"/>
              </a:rPr>
              <a:t>st.sidebar.radio</a:t>
            </a:r>
            <a:r>
              <a:rPr sz="1400" b="0" i="0">
                <a:solidFill>
                  <a:srgbClr val="4D5A6B"/>
                </a:solidFill>
                <a:latin typeface="Calibri"/>
              </a:rPr>
              <a:t>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sz="1000" b="1" i="0">
                <a:solidFill>
                  <a:srgbClr val="E8674C"/>
                </a:solidFill>
                <a:latin typeface="Calibri"/>
              </a:rPr>
              <a:t>◆  </a:t>
            </a:r>
            <a:r>
              <a:rPr sz="1400" b="0" i="0">
                <a:solidFill>
                  <a:srgbClr val="4D5A6B"/>
                </a:solidFill>
                <a:latin typeface="Calibri"/>
              </a:rPr>
              <a:t>Captures structured inputs via isolated form blocks to prevent constant re-rendering.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sz="1000" b="1" i="0">
                <a:solidFill>
                  <a:srgbClr val="E8674C"/>
                </a:solidFill>
                <a:latin typeface="Calibri"/>
              </a:rPr>
              <a:t>◆  </a:t>
            </a:r>
            <a:r>
              <a:rPr sz="1400" b="0" i="0">
                <a:solidFill>
                  <a:srgbClr val="4D5A6B"/>
                </a:solidFill>
                <a:latin typeface="Calibri"/>
              </a:rPr>
              <a:t>Executes validation filters before invoking backend actions.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1645920"/>
            <a:ext cx="5440680" cy="452628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7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11112" y="2057400"/>
            <a:ext cx="4617720" cy="37490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8674C"/>
                </a:solidFill>
                <a:latin typeface="Courier New"/>
              </a:rPr>
              <a:t>weather_utils.py</a:t>
            </a:r>
          </a:p>
          <a:p>
            <a:pPr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sz="1400" b="0" i="0">
                <a:solidFill>
                  <a:srgbClr val="4D5A6B"/>
                </a:solidFill>
                <a:latin typeface="Calibri"/>
              </a:rPr>
              <a:t>Acts as the dedicated calculations engine executing all logical operations using Pandas.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sz="1000" b="1" i="0">
                <a:solidFill>
                  <a:srgbClr val="E8674C"/>
                </a:solidFill>
                <a:latin typeface="Calibri"/>
              </a:rPr>
              <a:t>◆  </a:t>
            </a:r>
            <a:r>
              <a:rPr sz="1400" b="0" i="0">
                <a:solidFill>
                  <a:srgbClr val="4D5A6B"/>
                </a:solidFill>
                <a:latin typeface="Calibri"/>
              </a:rPr>
              <a:t>Reads from and appends directly to </a:t>
            </a:r>
            <a:r>
              <a:rPr sz="1400" b="0" i="0">
                <a:solidFill>
                  <a:srgbClr val="4D5A6B"/>
                </a:solidFill>
                <a:latin typeface="Courier New"/>
              </a:rPr>
              <a:t>weather_observations.csv</a:t>
            </a:r>
            <a:r>
              <a:rPr sz="1400" b="0" i="0">
                <a:solidFill>
                  <a:srgbClr val="4D5A6B"/>
                </a:solidFill>
                <a:latin typeface="Calibri"/>
              </a:rPr>
              <a:t>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sz="1000" b="1" i="0">
                <a:solidFill>
                  <a:srgbClr val="E8674C"/>
                </a:solidFill>
                <a:latin typeface="Calibri"/>
              </a:rPr>
              <a:t>◆  </a:t>
            </a:r>
            <a:r>
              <a:rPr sz="1400" b="0" i="0">
                <a:solidFill>
                  <a:srgbClr val="4D5A6B"/>
                </a:solidFill>
                <a:latin typeface="Calibri"/>
              </a:rPr>
              <a:t>Aggregates observations to produce averages, minimums, and maximum values.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</a:pPr>
            <a:r>
              <a:rPr sz="1000" b="1" i="0">
                <a:solidFill>
                  <a:srgbClr val="E8674C"/>
                </a:solidFill>
                <a:latin typeface="Calibri"/>
              </a:rPr>
              <a:t>◆  </a:t>
            </a:r>
            <a:r>
              <a:rPr sz="1400" b="0" i="0">
                <a:solidFill>
                  <a:srgbClr val="4D5A6B"/>
                </a:solidFill>
                <a:latin typeface="Calibri"/>
              </a:rPr>
              <a:t>Runs efficient data filters to locate entries matching target dates.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12064"/>
            <a:ext cx="64008" cy="658368"/>
          </a:xfrm>
          <a:prstGeom prst="rect">
            <a:avLst/>
          </a:prstGeom>
          <a:solidFill>
            <a:srgbClr val="E86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572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A2742"/>
                </a:solidFill>
                <a:latin typeface="Arial"/>
              </a:rPr>
              <a:t>Key Dashboard Modules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310128" cy="397763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7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10512" y="2240280"/>
            <a:ext cx="786384" cy="786384"/>
          </a:xfrm>
          <a:prstGeom prst="ellipse">
            <a:avLst/>
          </a:prstGeom>
          <a:solidFill>
            <a:srgbClr val="FB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E8674C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91840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A2742"/>
                </a:solidFill>
                <a:latin typeface="Arial"/>
              </a:rPr>
              <a:t>Record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761488" cy="1783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D5A6B"/>
                </a:solidFill>
                <a:latin typeface="Calibri"/>
              </a:rPr>
              <a:t>Simple form component collecting date string, temperature, sky condition slider ranges, and wind speeds safely without page reset bugs.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828800"/>
            <a:ext cx="3310128" cy="397763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7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96712" y="2240280"/>
            <a:ext cx="786384" cy="786384"/>
          </a:xfrm>
          <a:prstGeom prst="ellipse">
            <a:avLst/>
          </a:prstGeom>
          <a:solidFill>
            <a:srgbClr val="FB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E8674C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291840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A2742"/>
                </a:solidFill>
                <a:latin typeface="Arial"/>
              </a:rPr>
              <a:t>View Statistics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59" y="3886200"/>
            <a:ext cx="2761488" cy="1783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D5A6B"/>
                </a:solidFill>
                <a:latin typeface="Calibri"/>
              </a:rPr>
              <a:t>Extracts numeric averages, extreme outliers, and maps dominant climate trends across logs using automated calculations.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828800"/>
            <a:ext cx="3310128" cy="3977639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7E2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582912" y="2240280"/>
            <a:ext cx="786384" cy="786384"/>
          </a:xfrm>
          <a:prstGeom prst="ellipse">
            <a:avLst/>
          </a:prstGeom>
          <a:solidFill>
            <a:srgbClr val="FB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 i="0">
                <a:solidFill>
                  <a:srgbClr val="E8674C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3291840"/>
            <a:ext cx="2852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A2742"/>
                </a:solidFill>
                <a:latin typeface="Arial"/>
              </a:rPr>
              <a:t>Search by 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3886200"/>
            <a:ext cx="2761488" cy="1783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D5A6B"/>
                </a:solidFill>
                <a:latin typeface="Calibri"/>
              </a:rPr>
              <a:t>Locates historical entries instantly matching selected calendar dates and displays formatted observation datasets to users.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12064"/>
            <a:ext cx="64008" cy="658368"/>
          </a:xfrm>
          <a:prstGeom prst="rect">
            <a:avLst/>
          </a:prstGeom>
          <a:solidFill>
            <a:srgbClr val="E86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572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A2742"/>
                </a:solidFill>
                <a:latin typeface="Arial"/>
              </a:rPr>
              <a:t>Stretch Goals - Mandatory</a:t>
            </a:r>
          </a:p>
        </p:txBody>
      </p:sp>
      <p:sp>
        <p:nvSpPr>
          <p:cNvPr id="4" name="Oval 3"/>
          <p:cNvSpPr/>
          <p:nvPr/>
        </p:nvSpPr>
        <p:spPr>
          <a:xfrm>
            <a:off x="685800" y="1691640"/>
            <a:ext cx="530352" cy="530352"/>
          </a:xfrm>
          <a:prstGeom prst="ellipse">
            <a:avLst/>
          </a:prstGeom>
          <a:solidFill>
            <a:srgbClr val="FB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E8674C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8760" y="164592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2742"/>
                </a:solidFill>
                <a:latin typeface="Arial"/>
              </a:rPr>
              <a:t>Text Graph Trends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50" b="0" i="0">
                <a:solidFill>
                  <a:srgbClr val="4D5A6B"/>
                </a:solidFill>
                <a:latin typeface="Calibri"/>
              </a:rPr>
              <a:t>Displays temperature trends as text-based bar graphs of the most recent logs.</a:t>
            </a:r>
          </a:p>
        </p:txBody>
      </p:sp>
      <p:sp>
        <p:nvSpPr>
          <p:cNvPr id="6" name="Oval 5"/>
          <p:cNvSpPr/>
          <p:nvPr/>
        </p:nvSpPr>
        <p:spPr>
          <a:xfrm>
            <a:off x="685800" y="2660904"/>
            <a:ext cx="530352" cy="530352"/>
          </a:xfrm>
          <a:prstGeom prst="ellipse">
            <a:avLst/>
          </a:prstGeom>
          <a:solidFill>
            <a:srgbClr val="FB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E8674C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615184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2742"/>
                </a:solidFill>
                <a:latin typeface="Arial"/>
              </a:rPr>
              <a:t>Month / Season Filter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50" b="0" i="0">
                <a:solidFill>
                  <a:srgbClr val="4D5A6B"/>
                </a:solidFill>
                <a:latin typeface="Calibri"/>
              </a:rPr>
              <a:t>Filters observations by calendar month or Bahrain seasonal groupings.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3630168"/>
            <a:ext cx="530352" cy="530352"/>
          </a:xfrm>
          <a:prstGeom prst="ellipse">
            <a:avLst/>
          </a:prstGeom>
          <a:solidFill>
            <a:srgbClr val="FB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E8674C"/>
                </a:solidFill>
                <a:latin typeface="Arial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3584448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2742"/>
                </a:solidFill>
                <a:latin typeface="Arial"/>
              </a:rPr>
              <a:t>Weather Prediction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50" b="0" i="0">
                <a:solidFill>
                  <a:srgbClr val="4D5A6B"/>
                </a:solidFill>
                <a:latin typeface="Calibri"/>
              </a:rPr>
              <a:t>Predicts tomorrow's outlook based on historical records of the selected month.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4599432"/>
            <a:ext cx="530352" cy="530352"/>
          </a:xfrm>
          <a:prstGeom prst="ellipse">
            <a:avLst/>
          </a:prstGeom>
          <a:solidFill>
            <a:srgbClr val="FB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E8674C"/>
                </a:solidFill>
                <a:latin typeface="Arial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4553712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2742"/>
                </a:solidFill>
                <a:latin typeface="Arial"/>
              </a:rPr>
              <a:t>Year-over-Year Comparison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50" b="0" i="0">
                <a:solidFill>
                  <a:srgbClr val="4D5A6B"/>
                </a:solidFill>
                <a:latin typeface="Calibri"/>
              </a:rPr>
              <a:t>Compares yearly averages, maximums, and minimums in a summary matrix.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5568696"/>
            <a:ext cx="530352" cy="530352"/>
          </a:xfrm>
          <a:prstGeom prst="ellipse">
            <a:avLst/>
          </a:prstGeom>
          <a:solidFill>
            <a:srgbClr val="FBE2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E8674C"/>
                </a:solidFill>
                <a:latin typeface="Arial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5522976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A2742"/>
                </a:solidFill>
                <a:latin typeface="Arial"/>
              </a:rPr>
              <a:t>Record Breakers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350" b="0" i="0">
                <a:solidFill>
                  <a:srgbClr val="4D5A6B"/>
                </a:solidFill>
                <a:latin typeface="Calibri"/>
              </a:rPr>
              <a:t>Tracks and displays the all-time highest and lowest recorded temperatures.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74519"/>
            <a:ext cx="9994392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Arial"/>
              </a:rPr>
              <a:t>Live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68880" y="3063240"/>
            <a:ext cx="725119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C9D3E0"/>
                </a:solidFill>
                <a:latin typeface="Calibri"/>
              </a:rPr>
              <a:t>Thank you for your attention. Let's head over to the terminal and examine the active Streamlit app interfaces.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4114800"/>
            <a:ext cx="92628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9D3E0"/>
                </a:solidFill>
                <a:latin typeface="Calibri"/>
              </a:rPr>
              <a:t>Ready to address any conceptual queries regarding Python structure, Pandas processing, or Streamlit layout designs.</a:t>
            </a:r>
          </a:p>
        </p:txBody>
      </p:sp>
      <p:sp>
        <p:nvSpPr>
          <p:cNvPr id="5" name="TextBox 4">
            <a:hlinkClick r:id="rId2"/>
          </p:cNvPr>
          <p:cNvSpPr txBox="1"/>
          <p:nvPr/>
        </p:nvSpPr>
        <p:spPr>
          <a:xfrm>
            <a:off x="2468880" y="4846320"/>
            <a:ext cx="72511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E8674C"/>
                </a:solidFill>
                <a:latin typeface="Courier New"/>
              </a:rPr>
              <a:t>github.com/akeelebrahim/weather_apps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12064"/>
            <a:ext cx="64008" cy="658368"/>
          </a:xfrm>
          <a:prstGeom prst="rect">
            <a:avLst/>
          </a:prstGeom>
          <a:solidFill>
            <a:srgbClr val="E867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04672" y="457200"/>
            <a:ext cx="10789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A2742"/>
                </a:solidFill>
                <a:latin typeface="Arial"/>
              </a:rPr>
              <a:t>Image Sources</a:t>
            </a:r>
          </a:p>
        </p:txBody>
      </p:sp>
      <p:pic>
        <p:nvPicPr>
          <p:cNvPr id="4" name="Picture 3" descr="sky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429000"/>
            <a:ext cx="896112" cy="61264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91640" y="3401568"/>
            <a:ext cx="9921240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D5A6B"/>
                </a:solidFill>
                <a:latin typeface="Calibri"/>
              </a:rPr>
              <a:t>https://media.istockphoto.com/id/527616137/photo/skyline-of-manama-city-bahrain-middle-east.jpg?s=612x612&amp;w=0&amp;k=20&amp;c=DKjGgeOrZ4tS3dYAGsAeiTpqNCFRhxOAs0zFHQX3vjI=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300" b="0" i="0">
                <a:solidFill>
                  <a:srgbClr val="4D5A6B"/>
                </a:solidFill>
                <a:latin typeface="Calibri"/>
              </a:rPr>
              <a:t>Source: </a:t>
            </a:r>
            <a:r>
              <a:rPr sz="1300" b="0" i="0">
                <a:solidFill>
                  <a:srgbClr val="544FE0"/>
                </a:solidFill>
                <a:latin typeface="Calibri"/>
                <a:hlinkClick r:id="rId3"/>
              </a:rPr>
              <a:t>www.istockphoto.com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